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69" r:id="rId4"/>
    <p:sldId id="268" r:id="rId5"/>
    <p:sldId id="272" r:id="rId6"/>
    <p:sldId id="271" r:id="rId7"/>
    <p:sldId id="270" r:id="rId8"/>
    <p:sldId id="265" r:id="rId9"/>
    <p:sldId id="266"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348344" y="1091476"/>
            <a:ext cx="11843656"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PROJECT TITLE : </a:t>
            </a:r>
            <a:r>
              <a:rPr lang="en-US" dirty="0">
                <a:solidFill>
                  <a:schemeClr val="tx1"/>
                </a:solidFill>
                <a:latin typeface="Cambria" panose="02040503050406030204" pitchFamily="18" charset="0"/>
                <a:ea typeface="Cambria" panose="02040503050406030204" pitchFamily="18" charset="0"/>
              </a:rPr>
              <a:t> Finance Receipting using Robotic Process Automation</a:t>
            </a:r>
            <a:endParaRPr lang="en-GB"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47166"/>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CSD-G36</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192813" y="2184371"/>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B.Tech</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a:t>
            </a:r>
            <a:r>
              <a:rPr lang="en-US" sz="2000" b="1" dirty="0">
                <a:solidFill>
                  <a:schemeClr val="tx1"/>
                </a:solidFill>
                <a:latin typeface="Cambria" panose="02040503050406030204" pitchFamily="18" charset="0"/>
                <a:ea typeface="Cambria" panose="02040503050406030204" pitchFamily="18" charset="0"/>
                <a:cs typeface="Verdana"/>
                <a:sym typeface="Verdana"/>
              </a:rPr>
              <a:t>C</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omputer Science Engineering </a:t>
            </a:r>
            <a:r>
              <a:rPr lang="en-US" sz="2000" b="1" dirty="0">
                <a:solidFill>
                  <a:schemeClr val="tx1"/>
                </a:solidFill>
                <a:latin typeface="Cambria" panose="02040503050406030204" pitchFamily="18" charset="0"/>
                <a:ea typeface="Cambria" panose="02040503050406030204" pitchFamily="18" charset="0"/>
                <a:cs typeface="Verdana"/>
                <a:sym typeface="Verdana"/>
              </a:rPr>
              <a:t>in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Data Science  </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2000" b="1" dirty="0">
                <a:solidFill>
                  <a:schemeClr val="tx1"/>
                </a:solidFill>
                <a:latin typeface="Cambria" panose="02040503050406030204" pitchFamily="18" charset="0"/>
                <a:ea typeface="Cambria" panose="02040503050406030204" pitchFamily="18" charset="0"/>
                <a:cs typeface="Verdana"/>
                <a:sym typeface="Verdana"/>
              </a:rPr>
              <a:t>: Prof. Saira Banu </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Dr. Manjula H M  </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4" name="Table 3">
            <a:extLst>
              <a:ext uri="{FF2B5EF4-FFF2-40B4-BE49-F238E27FC236}">
                <a16:creationId xmlns:a16="http://schemas.microsoft.com/office/drawing/2014/main" id="{D2C0EB0E-AD6C-8373-F32D-442A60987809}"/>
              </a:ext>
            </a:extLst>
          </p:cNvPr>
          <p:cNvGraphicFramePr>
            <a:graphicFrameLocks noGrp="1"/>
          </p:cNvGraphicFramePr>
          <p:nvPr>
            <p:extLst>
              <p:ext uri="{D42A27DB-BD31-4B8C-83A1-F6EECF244321}">
                <p14:modId xmlns:p14="http://schemas.microsoft.com/office/powerpoint/2010/main" val="1173110581"/>
              </p:ext>
            </p:extLst>
          </p:nvPr>
        </p:nvGraphicFramePr>
        <p:xfrm>
          <a:off x="790469" y="2699466"/>
          <a:ext cx="3904855" cy="1483092"/>
        </p:xfrm>
        <a:graphic>
          <a:graphicData uri="http://schemas.openxmlformats.org/drawingml/2006/table">
            <a:tbl>
              <a:tblPr firstRow="1" bandRow="1"/>
              <a:tblGrid>
                <a:gridCol w="1919605">
                  <a:extLst>
                    <a:ext uri="{9D8B030D-6E8A-4147-A177-3AD203B41FA5}">
                      <a16:colId xmlns:a16="http://schemas.microsoft.com/office/drawing/2014/main" val="1275691115"/>
                    </a:ext>
                  </a:extLst>
                </a:gridCol>
                <a:gridCol w="1985250">
                  <a:extLst>
                    <a:ext uri="{9D8B030D-6E8A-4147-A177-3AD203B41FA5}">
                      <a16:colId xmlns:a16="http://schemas.microsoft.com/office/drawing/2014/main" val="4198958596"/>
                    </a:ext>
                  </a:extLst>
                </a:gridCol>
              </a:tblGrid>
              <a:tr h="370773">
                <a:tc>
                  <a:txBody>
                    <a:bodyPr/>
                    <a:lstStyle/>
                    <a:p>
                      <a:pPr algn="ctr"/>
                      <a:r>
                        <a:rPr lang="en-IN" b="1" dirty="0"/>
                        <a:t>STUDENT ROLL NO</a:t>
                      </a:r>
                    </a:p>
                  </a:txBody>
                  <a:tcPr/>
                </a:tc>
                <a:tc>
                  <a:txBody>
                    <a:bodyPr/>
                    <a:lstStyle/>
                    <a:p>
                      <a:pPr algn="ctr"/>
                      <a:r>
                        <a:rPr lang="en-IN" b="1" dirty="0"/>
                        <a:t>STUDENT NAME</a:t>
                      </a:r>
                    </a:p>
                  </a:txBody>
                  <a:tcPr/>
                </a:tc>
                <a:extLst>
                  <a:ext uri="{0D108BD9-81ED-4DB2-BD59-A6C34878D82A}">
                    <a16:rowId xmlns:a16="http://schemas.microsoft.com/office/drawing/2014/main" val="3648649300"/>
                  </a:ext>
                </a:extLst>
              </a:tr>
              <a:tr h="370773">
                <a:tc>
                  <a:txBody>
                    <a:bodyPr/>
                    <a:lstStyle/>
                    <a:p>
                      <a:pPr algn="ctr"/>
                      <a:r>
                        <a:rPr lang="en-IN" dirty="0"/>
                        <a:t>20211CSD0179</a:t>
                      </a:r>
                    </a:p>
                  </a:txBody>
                  <a:tcPr/>
                </a:tc>
                <a:tc>
                  <a:txBody>
                    <a:bodyPr/>
                    <a:lstStyle/>
                    <a:p>
                      <a:pPr algn="ctr"/>
                      <a:r>
                        <a:rPr lang="en-IN" dirty="0"/>
                        <a:t>VIKHYATH M B  </a:t>
                      </a:r>
                    </a:p>
                  </a:txBody>
                  <a:tcPr/>
                </a:tc>
                <a:extLst>
                  <a:ext uri="{0D108BD9-81ED-4DB2-BD59-A6C34878D82A}">
                    <a16:rowId xmlns:a16="http://schemas.microsoft.com/office/drawing/2014/main" val="2629029658"/>
                  </a:ext>
                </a:extLst>
              </a:tr>
              <a:tr h="370773">
                <a:tc>
                  <a:txBody>
                    <a:bodyPr/>
                    <a:lstStyle/>
                    <a:p>
                      <a:pPr algn="ctr"/>
                      <a:r>
                        <a:rPr lang="en-IN" dirty="0"/>
                        <a:t>20211CSD0132</a:t>
                      </a:r>
                    </a:p>
                  </a:txBody>
                  <a:tcPr/>
                </a:tc>
                <a:tc>
                  <a:txBody>
                    <a:bodyPr/>
                    <a:lstStyle/>
                    <a:p>
                      <a:pPr algn="ctr"/>
                      <a:r>
                        <a:rPr lang="en-IN" dirty="0"/>
                        <a:t>KEREN ELISHEBA S</a:t>
                      </a:r>
                    </a:p>
                  </a:txBody>
                  <a:tcPr/>
                </a:tc>
                <a:extLst>
                  <a:ext uri="{0D108BD9-81ED-4DB2-BD59-A6C34878D82A}">
                    <a16:rowId xmlns:a16="http://schemas.microsoft.com/office/drawing/2014/main" val="656441066"/>
                  </a:ext>
                </a:extLst>
              </a:tr>
              <a:tr h="370773">
                <a:tc>
                  <a:txBody>
                    <a:bodyPr/>
                    <a:lstStyle/>
                    <a:p>
                      <a:pPr algn="ctr"/>
                      <a:r>
                        <a:rPr lang="en-IN" dirty="0"/>
                        <a:t>20211CSD0168</a:t>
                      </a:r>
                    </a:p>
                  </a:txBody>
                  <a:tcPr/>
                </a:tc>
                <a:tc>
                  <a:txBody>
                    <a:bodyPr/>
                    <a:lstStyle/>
                    <a:p>
                      <a:pPr algn="ctr"/>
                      <a:r>
                        <a:rPr lang="en-IN" dirty="0"/>
                        <a:t>CHIRAG K SRINIVAS</a:t>
                      </a:r>
                    </a:p>
                  </a:txBody>
                  <a:tcPr/>
                </a:tc>
                <a:extLst>
                  <a:ext uri="{0D108BD9-81ED-4DB2-BD59-A6C34878D82A}">
                    <a16:rowId xmlns:a16="http://schemas.microsoft.com/office/drawing/2014/main" val="132868629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411705"/>
            <a:ext cx="10668000" cy="3655595"/>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b="1" dirty="0">
                <a:latin typeface="Cambria" panose="02040503050406030204" pitchFamily="18" charset="0"/>
                <a:ea typeface="Cambria" panose="02040503050406030204" pitchFamily="18" charset="0"/>
              </a:rPr>
              <a:t>Problem Statement</a:t>
            </a:r>
          </a:p>
          <a:p>
            <a:pPr marL="495300" lvl="0" indent="-342900" algn="just">
              <a:lnSpc>
                <a:spcPct val="200000"/>
              </a:lnSpc>
              <a:spcBef>
                <a:spcPts val="0"/>
              </a:spcBef>
              <a:buFont typeface="Wingdings" panose="05000000000000000000" pitchFamily="2" charset="2"/>
              <a:buChar char="Ø"/>
            </a:pPr>
            <a:r>
              <a:rPr lang="en-US" b="1"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b="1"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b="1"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267325"/>
            <a:ext cx="10668000" cy="4828675"/>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KG Info Systems Pvt Ltd</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IN" sz="1800" b="1" dirty="0">
                <a:effectLst/>
                <a:latin typeface="Cambria" panose="02040503050406030204" pitchFamily="18" charset="0"/>
                <a:ea typeface="Cambria" panose="02040503050406030204" pitchFamily="18" charset="0"/>
                <a:cs typeface="Times New Roman" panose="02020603050405020304" pitchFamily="18" charset="0"/>
              </a:rPr>
              <a:t> </a:t>
            </a:r>
            <a:r>
              <a:rPr lang="en-IN" sz="1900" dirty="0">
                <a:effectLst/>
                <a:latin typeface="Cambria" panose="02040503050406030204" pitchFamily="18" charset="0"/>
                <a:ea typeface="Cambria" panose="02040503050406030204" pitchFamily="18" charset="0"/>
                <a:cs typeface="Times New Roman" panose="02020603050405020304" pitchFamily="18" charset="0"/>
              </a:rPr>
              <a:t>A client needs to automate a back office process which has a volume of 25000 receipts per month. The information is structured, with pre-determined rules and conditions. The process has 10% of exceptions and also involves the use of paper. The source file is downloaded from SAP application, from which data is retrieved. Based on transaction type, client details are segregated as either Card or Cheque. Segregated user information is fed to the web application. For each Receipt number, templates are used to generate receipts and the same is mailed to the vendor specified in the source file. Each transaction type has its own template, which is available in the File Server. Design an automation solution which will automate the above process and email the receipts to corresponding vendor. </a:t>
            </a:r>
            <a:endParaRPr lang="en-US" sz="19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Difficulty Level: Complex</a:t>
            </a:r>
            <a:endParaRPr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219200"/>
            <a:ext cx="9967495" cy="4716379"/>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r>
              <a:rPr lang="en-US" dirty="0">
                <a:latin typeface="Cambria" panose="02040503050406030204" pitchFamily="18" charset="0"/>
                <a:ea typeface="Cambria" panose="02040503050406030204" pitchFamily="18" charset="0"/>
              </a:rPr>
              <a:t>:</a:t>
            </a:r>
          </a:p>
          <a:p>
            <a:pPr marL="495300" indent="-342900" algn="just">
              <a:spcBef>
                <a:spcPts val="0"/>
              </a:spcBef>
              <a:buSzPct val="100000"/>
              <a:buAutoNum type="arabicPeriod"/>
            </a:pPr>
            <a:r>
              <a:rPr lang="en-IN" kern="100" dirty="0">
                <a:effectLst/>
                <a:latin typeface="Calibri" panose="020F0502020204030204" pitchFamily="34" charset="0"/>
                <a:ea typeface="Calibri" panose="020F0502020204030204" pitchFamily="34" charset="0"/>
                <a:cs typeface="Times New Roman" panose="02020603050405020304" pitchFamily="18" charset="0"/>
              </a:rPr>
              <a:t>Robotic Process Automation (RPA).</a:t>
            </a:r>
          </a:p>
          <a:p>
            <a:pPr marL="495300" indent="-342900" algn="just">
              <a:spcBef>
                <a:spcPts val="0"/>
              </a:spcBef>
              <a:buSzPct val="100000"/>
              <a:buAutoNum type="arabicPeriod" startAt="2"/>
            </a:pPr>
            <a:r>
              <a:rPr lang="en-IN" kern="100" dirty="0">
                <a:effectLst/>
                <a:latin typeface="Calibri" panose="020F0502020204030204" pitchFamily="34" charset="0"/>
                <a:ea typeface="Calibri" panose="020F0502020204030204" pitchFamily="34" charset="0"/>
                <a:cs typeface="Times New Roman" panose="02020603050405020304" pitchFamily="18" charset="0"/>
              </a:rPr>
              <a:t>SAP Integration.</a:t>
            </a:r>
          </a:p>
          <a:p>
            <a:pPr marL="495300" indent="-342900" algn="just">
              <a:spcBef>
                <a:spcPts val="0"/>
              </a:spcBef>
              <a:buSzPct val="100000"/>
              <a:buAutoNum type="arabicPeriod" startAt="3"/>
            </a:pPr>
            <a:r>
              <a:rPr lang="en-IN" kern="100" dirty="0">
                <a:effectLst/>
                <a:latin typeface="Calibri" panose="020F0502020204030204" pitchFamily="34" charset="0"/>
                <a:ea typeface="Calibri" panose="020F0502020204030204" pitchFamily="34" charset="0"/>
                <a:cs typeface="Times New Roman" panose="02020603050405020304" pitchFamily="18" charset="0"/>
              </a:rPr>
              <a:t>Data Management &amp; Storage.</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Data Segregation and Rules Engine.</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Document Generation (Template-Based).</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Email Automation.</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Exception Handling.</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Optical Character Recognition (OCR) (for handling paper-based inputs).</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Security &amp; Compliance.</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Reporting and Monitoring.</a:t>
            </a:r>
          </a:p>
          <a:p>
            <a:pPr marL="495300" indent="-342900" algn="just">
              <a:spcBef>
                <a:spcPts val="0"/>
              </a:spcBef>
              <a:buSzPct val="100000"/>
              <a:buAutoNum type="arabicPeriod" startAt="3"/>
            </a:pPr>
            <a:r>
              <a:rPr lang="en-IN" dirty="0">
                <a:effectLst/>
                <a:latin typeface="Calibri" panose="020F0502020204030204" pitchFamily="34" charset="0"/>
                <a:ea typeface="Calibri" panose="020F0502020204030204" pitchFamily="34" charset="0"/>
                <a:cs typeface="Times New Roman" panose="02020603050405020304" pitchFamily="18" charset="0"/>
              </a:rPr>
              <a:t>Collaboration &amp; Version Control</a:t>
            </a:r>
            <a:r>
              <a:rPr lang="en-IN" dirty="0">
                <a:latin typeface="Calibri" panose="020F0502020204030204" pitchFamily="34" charset="0"/>
                <a:ea typeface="Calibri" panose="020F0502020204030204" pitchFamily="34" charset="0"/>
                <a:cs typeface="Times New Roman" panose="02020603050405020304" pitchFamily="18" charset="0"/>
              </a:rPr>
              <a: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startAt="2"/>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indent="-342900" algn="just">
              <a:spcBef>
                <a:spcPts val="0"/>
              </a:spcBef>
              <a:buSzPct val="100000"/>
              <a:buAutoNum type="arabicPeriod"/>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609600" lvl="0" indent="-457200" algn="just" rtl="0">
              <a:spcBef>
                <a:spcPts val="0"/>
              </a:spcBef>
              <a:spcAft>
                <a:spcPts val="0"/>
              </a:spcAft>
              <a:buClr>
                <a:schemeClr val="dk1"/>
              </a:buClr>
              <a:buSzPct val="100000"/>
              <a:buAutoNum type="arabicPeriod"/>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39852" y="762138"/>
            <a:ext cx="11830822" cy="5455782"/>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RPA Tools</a:t>
            </a:r>
            <a:r>
              <a:rPr lang="en-US" sz="1900" dirty="0">
                <a:latin typeface="Times New Roman" panose="02020603050405020304" pitchFamily="18" charset="0"/>
                <a:ea typeface="Calibri" panose="020F0502020204030204" pitchFamily="34" charset="0"/>
                <a:cs typeface="Times New Roman" panose="02020603050405020304" pitchFamily="18" charset="0"/>
              </a:rPr>
              <a:t>: UiPath, Automation Anywhere, Blue Prism (for RPA-based solutions).</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Programming Tools</a:t>
            </a:r>
            <a:r>
              <a:rPr lang="en-US" sz="1900" dirty="0">
                <a:latin typeface="Times New Roman" panose="02020603050405020304" pitchFamily="18" charset="0"/>
                <a:ea typeface="Calibri" panose="020F0502020204030204" pitchFamily="34" charset="0"/>
                <a:cs typeface="Times New Roman" panose="02020603050405020304" pitchFamily="18" charset="0"/>
              </a:rPr>
              <a:t>: Python, JavaScript (for custom scripting).</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IDE:</a:t>
            </a:r>
            <a:r>
              <a:rPr lang="en-US" sz="1900" dirty="0">
                <a:latin typeface="Times New Roman" panose="02020603050405020304" pitchFamily="18" charset="0"/>
                <a:ea typeface="Calibri" panose="020F0502020204030204" pitchFamily="34" charset="0"/>
                <a:cs typeface="Times New Roman" panose="02020603050405020304" pitchFamily="18" charset="0"/>
              </a:rPr>
              <a:t> Visual Studio Code, PyCharm (for development).</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Database</a:t>
            </a:r>
            <a:r>
              <a:rPr lang="en-US" sz="1900" dirty="0">
                <a:latin typeface="Times New Roman" panose="02020603050405020304" pitchFamily="18" charset="0"/>
                <a:ea typeface="Calibri" panose="020F0502020204030204" pitchFamily="34" charset="0"/>
                <a:cs typeface="Times New Roman" panose="02020603050405020304" pitchFamily="18" charset="0"/>
              </a:rPr>
              <a:t>: SQLite, MySQL, PostgreSQL (for data storage).</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Email Automation</a:t>
            </a:r>
            <a:r>
              <a:rPr lang="en-US" sz="1900" dirty="0">
                <a:latin typeface="Times New Roman" panose="02020603050405020304" pitchFamily="18" charset="0"/>
                <a:ea typeface="Calibri" panose="020F0502020204030204" pitchFamily="34" charset="0"/>
                <a:cs typeface="Times New Roman" panose="02020603050405020304" pitchFamily="18" charset="0"/>
              </a:rPr>
              <a:t>: Gmail/Outlook SMTP (for email sending).</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Document Generation</a:t>
            </a:r>
            <a:r>
              <a:rPr lang="en-US" sz="1900" dirty="0">
                <a:latin typeface="Times New Roman" panose="02020603050405020304" pitchFamily="18" charset="0"/>
                <a:ea typeface="Calibri" panose="020F0502020204030204" pitchFamily="34" charset="0"/>
                <a:cs typeface="Times New Roman" panose="02020603050405020304" pitchFamily="18" charset="0"/>
              </a:rPr>
              <a:t>: Python-docx, Microsoft Word (for receipts/reports).</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Web Automation</a:t>
            </a:r>
            <a:r>
              <a:rPr lang="en-US" sz="1900" dirty="0">
                <a:latin typeface="Times New Roman" panose="02020603050405020304" pitchFamily="18" charset="0"/>
                <a:ea typeface="Calibri" panose="020F0502020204030204" pitchFamily="34" charset="0"/>
                <a:cs typeface="Times New Roman" panose="02020603050405020304" pitchFamily="18" charset="0"/>
              </a:rPr>
              <a:t>: Selenium, Puppeteer (for web-based automation).</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Cloud Platforms</a:t>
            </a:r>
            <a:r>
              <a:rPr lang="en-US" sz="1900" dirty="0">
                <a:latin typeface="Times New Roman" panose="02020603050405020304" pitchFamily="18" charset="0"/>
                <a:ea typeface="Calibri" panose="020F0502020204030204" pitchFamily="34" charset="0"/>
                <a:cs typeface="Times New Roman" panose="02020603050405020304" pitchFamily="18" charset="0"/>
              </a:rPr>
              <a:t>: Heroku, AWS Lambda (for deployment in the cloud).</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Task Scheduling</a:t>
            </a:r>
            <a:r>
              <a:rPr lang="en-US" sz="1900" dirty="0">
                <a:latin typeface="Times New Roman" panose="02020603050405020304" pitchFamily="18" charset="0"/>
                <a:ea typeface="Calibri" panose="020F0502020204030204" pitchFamily="34" charset="0"/>
                <a:cs typeface="Times New Roman" panose="02020603050405020304" pitchFamily="18" charset="0"/>
              </a:rPr>
              <a:t>: Windows Task Scheduler, Cron Jobs (for scheduling).</a:t>
            </a:r>
          </a:p>
          <a:p>
            <a:pPr marL="438150" indent="-285750">
              <a:lnSpc>
                <a:spcPct val="200000"/>
              </a:lnSpc>
              <a:spcBef>
                <a:spcPts val="0"/>
              </a:spcBef>
              <a:buSzPct val="100000"/>
            </a:pPr>
            <a:r>
              <a:rPr lang="en-US" sz="1900" b="1" dirty="0">
                <a:latin typeface="Times New Roman" panose="02020603050405020304" pitchFamily="18" charset="0"/>
                <a:ea typeface="Calibri" panose="020F0502020204030204" pitchFamily="34" charset="0"/>
                <a:cs typeface="Times New Roman" panose="02020603050405020304" pitchFamily="18" charset="0"/>
              </a:rPr>
              <a:t>Version Control</a:t>
            </a:r>
            <a:r>
              <a:rPr lang="en-US" sz="1900" dirty="0">
                <a:latin typeface="Times New Roman" panose="02020603050405020304" pitchFamily="18" charset="0"/>
                <a:ea typeface="Calibri" panose="020F0502020204030204" pitchFamily="34" charset="0"/>
                <a:cs typeface="Times New Roman" panose="02020603050405020304" pitchFamily="18" charset="0"/>
              </a:rPr>
              <a:t>: GitHub, GitLab (for collaboration).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732546"/>
            <a:ext cx="9053095" cy="3352801"/>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Task          | Timeline                       |</a:t>
            </a:r>
          </a:p>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a:t>
            </a:r>
          </a:p>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Review-0      | ███  (12-Sep to 18-Sep)         |</a:t>
            </a:r>
          </a:p>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Review-1      |           ████ (24-Sep to 27-Sep)|</a:t>
            </a:r>
          </a:p>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Review-2      |                   ████ (15-Oct to 21-Oct) |</a:t>
            </a:r>
          </a:p>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Review-3      |                              ████ (19-Nov to 22-Nov) |</a:t>
            </a:r>
          </a:p>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Final Viva-Voce|                                   ████ (17-Dec to 20-Dec) |</a:t>
            </a:r>
          </a:p>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89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Add APA Citation for all references.</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Use the below link for various APA styles :</a:t>
            </a:r>
          </a:p>
          <a:p>
            <a:pPr marL="495300" indent="-342900">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mbria" panose="02040503050406030204" pitchFamily="18" charset="0"/>
                <a:ea typeface="Cambria" panose="02040503050406030204" pitchFamily="18" charset="0"/>
              </a:rPr>
              <a:t>https://www.indeed.com/career-advice/career-development/how-to-cite-a-research-paper</a:t>
            </a:r>
          </a:p>
          <a:p>
            <a:pPr marL="152400" indent="0">
              <a:spcBef>
                <a:spcPts val="0"/>
              </a:spcBef>
              <a:buNone/>
            </a:pPr>
            <a:r>
              <a:rPr lang="en-US"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607</Words>
  <Application>Microsoft Office PowerPoint</Application>
  <PresentationFormat>Widescreen</PresentationFormat>
  <Paragraphs>78</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vt:lpstr>
      <vt:lpstr>Times New Roman</vt:lpstr>
      <vt:lpstr>Verdana</vt:lpstr>
      <vt:lpstr>Wingdings</vt:lpstr>
      <vt:lpstr>Bioinformatics</vt:lpstr>
      <vt:lpstr>PROJECT TITLE :  Finance Receipting using Robotic Process Automation</vt:lpstr>
      <vt:lpstr>Content</vt:lpstr>
      <vt:lpstr>Problem Statement Number: </vt:lpstr>
      <vt:lpstr>Analysis of Problem Statement</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Keren Elisheba</cp:lastModifiedBy>
  <cp:revision>35</cp:revision>
  <dcterms:modified xsi:type="dcterms:W3CDTF">2024-09-12T17:11:07Z</dcterms:modified>
</cp:coreProperties>
</file>