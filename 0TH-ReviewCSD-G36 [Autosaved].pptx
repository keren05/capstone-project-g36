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57" r:id="rId3"/>
    <p:sldId id="269" r:id="rId4"/>
    <p:sldId id="268" r:id="rId5"/>
    <p:sldId id="272" r:id="rId6"/>
    <p:sldId id="270" r:id="rId7"/>
    <p:sldId id="265" r:id="rId8"/>
    <p:sldId id="266"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3" d="100"/>
          <a:sy n="73" d="100"/>
        </p:scale>
        <p:origin x="3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348344" y="1091476"/>
            <a:ext cx="11843656"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PROJECT TITLE : </a:t>
            </a:r>
            <a:r>
              <a:rPr lang="en-US" dirty="0">
                <a:solidFill>
                  <a:schemeClr val="tx1"/>
                </a:solidFill>
                <a:latin typeface="Cambria" panose="02040503050406030204" pitchFamily="18" charset="0"/>
                <a:ea typeface="Cambria" panose="02040503050406030204" pitchFamily="18" charset="0"/>
              </a:rPr>
              <a:t> Finance Receipting using Robotic Process Automation</a:t>
            </a:r>
            <a:endParaRPr lang="en-GB"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2147166"/>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 CSD-G36</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sp>
        <p:nvSpPr>
          <p:cNvPr id="90" name="Google Shape;90;p13"/>
          <p:cNvSpPr txBox="1"/>
          <p:nvPr/>
        </p:nvSpPr>
        <p:spPr>
          <a:xfrm>
            <a:off x="6192813" y="2184371"/>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marL="0" marR="0" lvl="0" indent="0" algn="ctr" rtl="0">
              <a:spcBef>
                <a:spcPts val="340"/>
              </a:spcBef>
              <a:spcAft>
                <a:spcPts val="0"/>
              </a:spcAft>
              <a:buClr>
                <a:srgbClr val="17365D"/>
              </a:buClr>
              <a:buSzPts val="1700"/>
              <a:buFont typeface="Arial"/>
              <a:buNone/>
            </a:pPr>
            <a:r>
              <a:rPr lang="en-GB" sz="2000" b="1" dirty="0" err="1">
                <a:solidFill>
                  <a:schemeClr val="tx1"/>
                </a:solidFill>
                <a:latin typeface="Cambria" panose="02040503050406030204" pitchFamily="18" charset="0"/>
                <a:ea typeface="Cambria" panose="02040503050406030204" pitchFamily="18" charset="0"/>
                <a:cs typeface="Verdana"/>
                <a:sym typeface="Verdana"/>
              </a:rPr>
              <a:t>Dr.</a:t>
            </a:r>
            <a:r>
              <a:rPr lang="en-GB" sz="2000" b="1" dirty="0">
                <a:solidFill>
                  <a:schemeClr val="tx1"/>
                </a:solidFill>
                <a:latin typeface="Cambria" panose="02040503050406030204" pitchFamily="18" charset="0"/>
                <a:ea typeface="Cambria" panose="02040503050406030204" pitchFamily="18" charset="0"/>
                <a:cs typeface="Verdana"/>
                <a:sym typeface="Verdana"/>
              </a:rPr>
              <a:t> Chandrasekar </a:t>
            </a:r>
            <a:r>
              <a:rPr lang="en-GB" sz="2000" b="1" dirty="0" err="1">
                <a:solidFill>
                  <a:schemeClr val="tx1"/>
                </a:solidFill>
                <a:latin typeface="Cambria" panose="02040503050406030204" pitchFamily="18" charset="0"/>
                <a:ea typeface="Cambria" panose="02040503050406030204" pitchFamily="18" charset="0"/>
                <a:cs typeface="Verdana"/>
                <a:sym typeface="Verdana"/>
              </a:rPr>
              <a:t>Vadivelraju</a:t>
            </a:r>
            <a:br>
              <a:rPr lang="en-GB" sz="1700" b="1" dirty="0">
                <a:solidFill>
                  <a:srgbClr val="17365D"/>
                </a:solidFill>
                <a:latin typeface="Cambria" panose="02040503050406030204" pitchFamily="18" charset="0"/>
                <a:ea typeface="Cambria" panose="02040503050406030204" pitchFamily="18" charset="0"/>
                <a:cs typeface="Verdana"/>
                <a:sym typeface="Verdana"/>
              </a:rPr>
            </a:b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r>
              <a:rPr lang="en-GB" dirty="0">
                <a:latin typeface="Cambria" panose="02040503050406030204" pitchFamily="18" charset="0"/>
                <a:ea typeface="Cambria" panose="02040503050406030204" pitchFamily="18" charset="0"/>
              </a:rPr>
              <a:t>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Review-0</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B.Tech</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 </a:t>
            </a:r>
            <a:r>
              <a:rPr lang="en-US" sz="2000" b="1" dirty="0">
                <a:solidFill>
                  <a:schemeClr val="tx1"/>
                </a:solidFill>
                <a:latin typeface="Cambria" panose="02040503050406030204" pitchFamily="18" charset="0"/>
                <a:ea typeface="Cambria" panose="02040503050406030204" pitchFamily="18" charset="0"/>
                <a:cs typeface="Verdana"/>
                <a:sym typeface="Verdana"/>
              </a:rPr>
              <a:t>C</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omputer Science Engineering </a:t>
            </a:r>
            <a:r>
              <a:rPr lang="en-US" sz="2000" b="1" dirty="0">
                <a:solidFill>
                  <a:schemeClr val="tx1"/>
                </a:solidFill>
                <a:latin typeface="Cambria" panose="02040503050406030204" pitchFamily="18" charset="0"/>
                <a:ea typeface="Cambria" panose="02040503050406030204" pitchFamily="18" charset="0"/>
                <a:cs typeface="Verdana"/>
                <a:sym typeface="Verdana"/>
              </a:rPr>
              <a:t>in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Data Science  </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2000" b="1" dirty="0">
                <a:solidFill>
                  <a:schemeClr val="tx1"/>
                </a:solidFill>
                <a:latin typeface="Cambria" panose="02040503050406030204" pitchFamily="18" charset="0"/>
                <a:ea typeface="Cambria" panose="02040503050406030204" pitchFamily="18" charset="0"/>
                <a:cs typeface="Verdana"/>
                <a:sym typeface="Verdana"/>
              </a:rPr>
              <a:t>: Prof. Saira Banu </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 Dr. Manjula H M  </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Ziaur Rahman</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4" name="Table 3">
            <a:extLst>
              <a:ext uri="{FF2B5EF4-FFF2-40B4-BE49-F238E27FC236}">
                <a16:creationId xmlns:a16="http://schemas.microsoft.com/office/drawing/2014/main" id="{D2C0EB0E-AD6C-8373-F32D-442A60987809}"/>
              </a:ext>
            </a:extLst>
          </p:cNvPr>
          <p:cNvGraphicFramePr>
            <a:graphicFrameLocks noGrp="1"/>
          </p:cNvGraphicFramePr>
          <p:nvPr>
            <p:extLst>
              <p:ext uri="{D42A27DB-BD31-4B8C-83A1-F6EECF244321}">
                <p14:modId xmlns:p14="http://schemas.microsoft.com/office/powerpoint/2010/main" val="2919158970"/>
              </p:ext>
            </p:extLst>
          </p:nvPr>
        </p:nvGraphicFramePr>
        <p:xfrm>
          <a:off x="790469" y="2699466"/>
          <a:ext cx="3904855" cy="1483092"/>
        </p:xfrm>
        <a:graphic>
          <a:graphicData uri="http://schemas.openxmlformats.org/drawingml/2006/table">
            <a:tbl>
              <a:tblPr firstRow="1" bandRow="1"/>
              <a:tblGrid>
                <a:gridCol w="1919605">
                  <a:extLst>
                    <a:ext uri="{9D8B030D-6E8A-4147-A177-3AD203B41FA5}">
                      <a16:colId xmlns:a16="http://schemas.microsoft.com/office/drawing/2014/main" val="1275691115"/>
                    </a:ext>
                  </a:extLst>
                </a:gridCol>
                <a:gridCol w="1985250">
                  <a:extLst>
                    <a:ext uri="{9D8B030D-6E8A-4147-A177-3AD203B41FA5}">
                      <a16:colId xmlns:a16="http://schemas.microsoft.com/office/drawing/2014/main" val="4198958596"/>
                    </a:ext>
                  </a:extLst>
                </a:gridCol>
              </a:tblGrid>
              <a:tr h="370773">
                <a:tc>
                  <a:txBody>
                    <a:bodyPr/>
                    <a:lstStyle/>
                    <a:p>
                      <a:pPr algn="ctr"/>
                      <a:r>
                        <a:rPr lang="en-IN" b="1" dirty="0"/>
                        <a:t>STUDENT ROLL NO</a:t>
                      </a:r>
                    </a:p>
                  </a:txBody>
                  <a:tcPr/>
                </a:tc>
                <a:tc>
                  <a:txBody>
                    <a:bodyPr/>
                    <a:lstStyle/>
                    <a:p>
                      <a:pPr algn="ctr"/>
                      <a:r>
                        <a:rPr lang="en-IN" b="1" dirty="0"/>
                        <a:t>STUDENT NAME</a:t>
                      </a:r>
                    </a:p>
                  </a:txBody>
                  <a:tcPr/>
                </a:tc>
                <a:extLst>
                  <a:ext uri="{0D108BD9-81ED-4DB2-BD59-A6C34878D82A}">
                    <a16:rowId xmlns:a16="http://schemas.microsoft.com/office/drawing/2014/main" val="3648649300"/>
                  </a:ext>
                </a:extLst>
              </a:tr>
              <a:tr h="370773">
                <a:tc>
                  <a:txBody>
                    <a:bodyPr/>
                    <a:lstStyle/>
                    <a:p>
                      <a:pPr algn="ctr"/>
                      <a:r>
                        <a:rPr lang="en-IN" dirty="0"/>
                        <a:t>20211CSD0132</a:t>
                      </a:r>
                    </a:p>
                  </a:txBody>
                  <a:tcPr/>
                </a:tc>
                <a:tc>
                  <a:txBody>
                    <a:bodyPr/>
                    <a:lstStyle/>
                    <a:p>
                      <a:pPr algn="ctr"/>
                      <a:r>
                        <a:rPr lang="en-IN" dirty="0"/>
                        <a:t>KEREN ELISHEBA S</a:t>
                      </a:r>
                    </a:p>
                  </a:txBody>
                  <a:tcPr/>
                </a:tc>
                <a:extLst>
                  <a:ext uri="{0D108BD9-81ED-4DB2-BD59-A6C34878D82A}">
                    <a16:rowId xmlns:a16="http://schemas.microsoft.com/office/drawing/2014/main" val="2629029658"/>
                  </a:ext>
                </a:extLst>
              </a:tr>
              <a:tr h="370773">
                <a:tc>
                  <a:txBody>
                    <a:bodyPr/>
                    <a:lstStyle/>
                    <a:p>
                      <a:pPr algn="ctr"/>
                      <a:r>
                        <a:rPr lang="en-IN" dirty="0"/>
                        <a:t>20211CSD0179</a:t>
                      </a:r>
                    </a:p>
                  </a:txBody>
                  <a:tcPr/>
                </a:tc>
                <a:tc>
                  <a:txBody>
                    <a:bodyPr/>
                    <a:lstStyle/>
                    <a:p>
                      <a:pPr algn="ctr"/>
                      <a:r>
                        <a:rPr lang="en-IN" dirty="0"/>
                        <a:t>VIKHYATH M B</a:t>
                      </a:r>
                    </a:p>
                  </a:txBody>
                  <a:tcPr/>
                </a:tc>
                <a:extLst>
                  <a:ext uri="{0D108BD9-81ED-4DB2-BD59-A6C34878D82A}">
                    <a16:rowId xmlns:a16="http://schemas.microsoft.com/office/drawing/2014/main" val="656441066"/>
                  </a:ext>
                </a:extLst>
              </a:tr>
              <a:tr h="370773">
                <a:tc>
                  <a:txBody>
                    <a:bodyPr/>
                    <a:lstStyle/>
                    <a:p>
                      <a:pPr algn="ctr"/>
                      <a:r>
                        <a:rPr lang="en-IN" dirty="0"/>
                        <a:t>20211CSD0168</a:t>
                      </a:r>
                    </a:p>
                  </a:txBody>
                  <a:tcPr/>
                </a:tc>
                <a:tc>
                  <a:txBody>
                    <a:bodyPr/>
                    <a:lstStyle/>
                    <a:p>
                      <a:pPr algn="ctr"/>
                      <a:r>
                        <a:rPr lang="en-IN" dirty="0"/>
                        <a:t>CHIRAG K SRINIVAS</a:t>
                      </a:r>
                    </a:p>
                  </a:txBody>
                  <a:tcPr/>
                </a:tc>
                <a:extLst>
                  <a:ext uri="{0D108BD9-81ED-4DB2-BD59-A6C34878D82A}">
                    <a16:rowId xmlns:a16="http://schemas.microsoft.com/office/drawing/2014/main" val="132868629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411705"/>
            <a:ext cx="10668000" cy="3655595"/>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Wingdings" panose="05000000000000000000" pitchFamily="2" charset="2"/>
              <a:buChar char="Ø"/>
            </a:pPr>
            <a:r>
              <a:rPr lang="en-US" b="1" dirty="0">
                <a:latin typeface="Cambria" panose="02040503050406030204" pitchFamily="18" charset="0"/>
                <a:ea typeface="Cambria" panose="02040503050406030204" pitchFamily="18" charset="0"/>
              </a:rPr>
              <a:t>Problem Statement</a:t>
            </a:r>
          </a:p>
          <a:p>
            <a:pPr marL="495300" lvl="0" indent="-342900" algn="just">
              <a:lnSpc>
                <a:spcPct val="200000"/>
              </a:lnSpc>
              <a:spcBef>
                <a:spcPts val="0"/>
              </a:spcBef>
              <a:buFont typeface="Wingdings" panose="05000000000000000000" pitchFamily="2" charset="2"/>
              <a:buChar char="Ø"/>
            </a:pPr>
            <a:r>
              <a:rPr lang="en-US" b="1" dirty="0">
                <a:latin typeface="Cambria" panose="02040503050406030204" pitchFamily="18" charset="0"/>
                <a:ea typeface="Cambria" panose="02040503050406030204" pitchFamily="18" charset="0"/>
              </a:rPr>
              <a:t>Analysis of Problem Statement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b="1"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b="1"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267325"/>
            <a:ext cx="10668000" cy="4828675"/>
          </a:xfrm>
          <a:prstGeom prst="rect">
            <a:avLst/>
          </a:prstGeom>
          <a:noFill/>
          <a:ln>
            <a:noFill/>
          </a:ln>
        </p:spPr>
        <p:txBody>
          <a:bodyPr spcFirstLastPara="1" wrap="square" lIns="91425" tIns="45700" rIns="91425" bIns="45700" anchor="t" anchorCtr="0">
            <a:normAutofit fontScale="775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KG Info Systems Pvt Ltd</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(Hardware / Software / Both) : </a:t>
            </a:r>
            <a:r>
              <a:rPr lang="en-US"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 </a:t>
            </a:r>
            <a:r>
              <a:rPr lang="en-IN" sz="1800" b="1" dirty="0">
                <a:effectLst/>
                <a:latin typeface="Cambria" panose="02040503050406030204" pitchFamily="18" charset="0"/>
                <a:ea typeface="Cambria" panose="02040503050406030204" pitchFamily="18" charset="0"/>
                <a:cs typeface="Times New Roman" panose="02020603050405020304" pitchFamily="18" charset="0"/>
              </a:rPr>
              <a:t> </a:t>
            </a:r>
            <a:r>
              <a:rPr lang="en-IN" sz="1900" dirty="0">
                <a:effectLst/>
                <a:latin typeface="Cambria" panose="02040503050406030204" pitchFamily="18" charset="0"/>
                <a:ea typeface="Cambria" panose="02040503050406030204" pitchFamily="18" charset="0"/>
                <a:cs typeface="Times New Roman" panose="02020603050405020304" pitchFamily="18" charset="0"/>
              </a:rPr>
              <a:t>A client needs to automate a back office process which has a volume of 25000 receipts per month. The information is structured, with pre-determined rules and conditions. The process has 10% of exceptions and also involves the use of paper. The source file is downloaded from SAP application, from which data is retrieved. Based on transaction type, client details are segregated as either Card or Cheque. Segregated user information is fed to the web application. For each Receipt number, templates are used to generate receipts and the same is mailed to the vendor specified in the source file. Each transaction type has its own template, which is available in the File Server. Design an automation solution which will automate the above process and email the receipts to corresponding vendor. </a:t>
            </a:r>
            <a:endParaRPr lang="en-US" sz="19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Difficulty Level: Complex</a:t>
            </a:r>
            <a:endParaRPr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219200"/>
            <a:ext cx="9967495" cy="4716379"/>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r>
              <a:rPr lang="en-US" dirty="0">
                <a:latin typeface="Cambria" panose="02040503050406030204" pitchFamily="18" charset="0"/>
                <a:ea typeface="Cambria" panose="02040503050406030204" pitchFamily="18" charset="0"/>
              </a:rPr>
              <a:t>:</a:t>
            </a:r>
          </a:p>
          <a:p>
            <a:pPr marL="495300" indent="-342900" algn="just">
              <a:spcBef>
                <a:spcPts val="0"/>
              </a:spcBef>
              <a:buSzPct val="100000"/>
              <a:buAutoNum type="arabicPeriod"/>
            </a:pPr>
            <a:r>
              <a:rPr lang="en-IN" kern="100" dirty="0">
                <a:effectLst/>
                <a:latin typeface="Calibri" panose="020F0502020204030204" pitchFamily="34" charset="0"/>
                <a:ea typeface="Calibri" panose="020F0502020204030204" pitchFamily="34" charset="0"/>
                <a:cs typeface="Times New Roman" panose="02020603050405020304" pitchFamily="18" charset="0"/>
              </a:rPr>
              <a:t>Robotic Process Automation (RPA).</a:t>
            </a:r>
          </a:p>
          <a:p>
            <a:pPr marL="495300" indent="-342900" algn="just">
              <a:spcBef>
                <a:spcPts val="0"/>
              </a:spcBef>
              <a:buSzPct val="100000"/>
              <a:buAutoNum type="arabicPeriod" startAt="2"/>
            </a:pPr>
            <a:r>
              <a:rPr lang="en-IN" kern="100" dirty="0">
                <a:effectLst/>
                <a:latin typeface="Calibri" panose="020F0502020204030204" pitchFamily="34" charset="0"/>
                <a:ea typeface="Calibri" panose="020F0502020204030204" pitchFamily="34" charset="0"/>
                <a:cs typeface="Times New Roman" panose="02020603050405020304" pitchFamily="18" charset="0"/>
              </a:rPr>
              <a:t>SAP Integration.</a:t>
            </a:r>
          </a:p>
          <a:p>
            <a:pPr marL="495300" indent="-342900" algn="just">
              <a:spcBef>
                <a:spcPts val="0"/>
              </a:spcBef>
              <a:buSzPct val="100000"/>
              <a:buAutoNum type="arabicPeriod" startAt="3"/>
            </a:pPr>
            <a:r>
              <a:rPr lang="en-IN" kern="100" dirty="0">
                <a:effectLst/>
                <a:latin typeface="Calibri" panose="020F0502020204030204" pitchFamily="34" charset="0"/>
                <a:ea typeface="Calibri" panose="020F0502020204030204" pitchFamily="34" charset="0"/>
                <a:cs typeface="Times New Roman" panose="02020603050405020304" pitchFamily="18" charset="0"/>
              </a:rPr>
              <a:t>Data Management &amp; Storage.</a:t>
            </a: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Data Segregation and Rules Engine.</a:t>
            </a: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Document Generation (Template-Based).</a:t>
            </a: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Email Automation.</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Exception Handling.</a:t>
            </a: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Optical Character Recognition (OCR) (for handling paper-based inputs).</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Security &amp; Compliance.</a:t>
            </a: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Reporting and Monitoring.</a:t>
            </a: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Collaboration &amp; Version Control</a:t>
            </a:r>
            <a:r>
              <a:rPr lang="en-IN" dirty="0">
                <a:latin typeface="Calibri" panose="020F0502020204030204" pitchFamily="34" charset="0"/>
                <a:ea typeface="Calibri" panose="020F0502020204030204" pitchFamily="34" charset="0"/>
                <a:cs typeface="Times New Roman" panose="02020603050405020304" pitchFamily="18" charset="0"/>
              </a:rPr>
              <a:t>.</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495300" indent="-342900" algn="just">
              <a:spcBef>
                <a:spcPts val="0"/>
              </a:spcBef>
              <a:buSzPct val="100000"/>
              <a:buAutoNum type="arabicPeriod" startAt="2"/>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95300" indent="-342900" algn="just">
              <a:spcBef>
                <a:spcPts val="0"/>
              </a:spcBef>
              <a:buSzPct val="100000"/>
              <a:buAutoNum type="arabicPeriod"/>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609600" lvl="0" indent="-457200" algn="just" rtl="0">
              <a:spcBef>
                <a:spcPts val="0"/>
              </a:spcBef>
              <a:spcAft>
                <a:spcPts val="0"/>
              </a:spcAft>
              <a:buClr>
                <a:schemeClr val="dk1"/>
              </a:buClr>
              <a:buSzPct val="100000"/>
              <a:buAutoNum type="arabicPeriod"/>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631143" y="762138"/>
            <a:ext cx="11830822" cy="5455782"/>
          </a:xfrm>
          <a:prstGeom prst="rect">
            <a:avLst/>
          </a:prstGeom>
          <a:noFill/>
          <a:ln>
            <a:noFill/>
          </a:ln>
        </p:spPr>
        <p:txBody>
          <a:bodyPr spcFirstLastPara="1" wrap="square" lIns="91425" tIns="45700" rIns="91425" bIns="45700" anchor="t" anchorCtr="0">
            <a:normAutofit fontScale="85000" lnSpcReduction="10000"/>
          </a:bodyPr>
          <a:lstStyle/>
          <a:p>
            <a:pPr marL="342900" lvl="0" indent="-190500" algn="just" rtl="0">
              <a:lnSpc>
                <a:spcPct val="200000"/>
              </a:lnSpc>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Software Requirements</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RPA Tools</a:t>
            </a:r>
            <a:r>
              <a:rPr lang="en-US" sz="1900" dirty="0">
                <a:latin typeface="Times New Roman" panose="02020603050405020304" pitchFamily="18" charset="0"/>
                <a:ea typeface="Calibri" panose="020F0502020204030204" pitchFamily="34" charset="0"/>
                <a:cs typeface="Times New Roman" panose="02020603050405020304" pitchFamily="18" charset="0"/>
              </a:rPr>
              <a:t>: UiPath, Automation Anywhere, Blue Prism (for RPA-based solutions).</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Programming Tools</a:t>
            </a:r>
            <a:r>
              <a:rPr lang="en-US" sz="1900" dirty="0">
                <a:latin typeface="Times New Roman" panose="02020603050405020304" pitchFamily="18" charset="0"/>
                <a:ea typeface="Calibri" panose="020F0502020204030204" pitchFamily="34" charset="0"/>
                <a:cs typeface="Times New Roman" panose="02020603050405020304" pitchFamily="18" charset="0"/>
              </a:rPr>
              <a:t>: Python, JavaScript (for custom scripting).</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IDE:</a:t>
            </a:r>
            <a:r>
              <a:rPr lang="en-US" sz="1900" dirty="0">
                <a:latin typeface="Times New Roman" panose="02020603050405020304" pitchFamily="18" charset="0"/>
                <a:ea typeface="Calibri" panose="020F0502020204030204" pitchFamily="34" charset="0"/>
                <a:cs typeface="Times New Roman" panose="02020603050405020304" pitchFamily="18" charset="0"/>
              </a:rPr>
              <a:t> Visual Studio Code, PyCharm (for development).</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Database</a:t>
            </a:r>
            <a:r>
              <a:rPr lang="en-US" sz="1900" dirty="0">
                <a:latin typeface="Times New Roman" panose="02020603050405020304" pitchFamily="18" charset="0"/>
                <a:ea typeface="Calibri" panose="020F0502020204030204" pitchFamily="34" charset="0"/>
                <a:cs typeface="Times New Roman" panose="02020603050405020304" pitchFamily="18" charset="0"/>
              </a:rPr>
              <a:t>: SQLite, (for data storage).</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Email Automation</a:t>
            </a:r>
            <a:r>
              <a:rPr lang="en-US" sz="1900" dirty="0">
                <a:latin typeface="Times New Roman" panose="02020603050405020304" pitchFamily="18" charset="0"/>
                <a:ea typeface="Calibri" panose="020F0502020204030204" pitchFamily="34" charset="0"/>
                <a:cs typeface="Times New Roman" panose="02020603050405020304" pitchFamily="18" charset="0"/>
              </a:rPr>
              <a:t>: Gmail/Outlook SMTP (for email sending).</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Document Generation</a:t>
            </a:r>
            <a:r>
              <a:rPr lang="en-US" sz="1900" dirty="0">
                <a:latin typeface="Times New Roman" panose="02020603050405020304" pitchFamily="18" charset="0"/>
                <a:ea typeface="Calibri" panose="020F0502020204030204" pitchFamily="34" charset="0"/>
                <a:cs typeface="Times New Roman" panose="02020603050405020304" pitchFamily="18" charset="0"/>
              </a:rPr>
              <a:t>: Python-docx, Microsoft Word (for receipts/reports).</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Web Automation</a:t>
            </a:r>
            <a:r>
              <a:rPr lang="en-US" sz="1900" dirty="0">
                <a:latin typeface="Times New Roman" panose="02020603050405020304" pitchFamily="18" charset="0"/>
                <a:ea typeface="Calibri" panose="020F0502020204030204" pitchFamily="34" charset="0"/>
                <a:cs typeface="Times New Roman" panose="02020603050405020304" pitchFamily="18" charset="0"/>
              </a:rPr>
              <a:t>: Selenium, Puppeteer (for web-based automation).</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Cloud Platforms</a:t>
            </a:r>
            <a:r>
              <a:rPr lang="en-US" sz="1900" dirty="0">
                <a:latin typeface="Times New Roman" panose="02020603050405020304" pitchFamily="18" charset="0"/>
                <a:ea typeface="Calibri" panose="020F0502020204030204" pitchFamily="34" charset="0"/>
                <a:cs typeface="Times New Roman" panose="02020603050405020304" pitchFamily="18" charset="0"/>
              </a:rPr>
              <a:t>: Heroku, AWS Lambda (for deployment in the cloud).</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Task Scheduling</a:t>
            </a:r>
            <a:r>
              <a:rPr lang="en-US" sz="1900" dirty="0">
                <a:latin typeface="Times New Roman" panose="02020603050405020304" pitchFamily="18" charset="0"/>
                <a:ea typeface="Calibri" panose="020F0502020204030204" pitchFamily="34" charset="0"/>
                <a:cs typeface="Times New Roman" panose="02020603050405020304" pitchFamily="18" charset="0"/>
              </a:rPr>
              <a:t>: Windows Task Scheduler, Cron Jobs (for scheduling).</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Version Control</a:t>
            </a:r>
            <a:r>
              <a:rPr lang="en-US" sz="1900" dirty="0">
                <a:latin typeface="Times New Roman" panose="02020603050405020304" pitchFamily="18" charset="0"/>
                <a:ea typeface="Calibri" panose="020F0502020204030204" pitchFamily="34" charset="0"/>
                <a:cs typeface="Times New Roman" panose="02020603050405020304" pitchFamily="18" charset="0"/>
              </a:rPr>
              <a:t>: GitHub, GitLab (for collaboration). </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70F571B9-361F-F9D7-E2A7-5D56CBFC22FC}"/>
              </a:ext>
            </a:extLst>
          </p:cNvPr>
          <p:cNvPicPr>
            <a:picLocks noChangeAspect="1"/>
          </p:cNvPicPr>
          <p:nvPr/>
        </p:nvPicPr>
        <p:blipFill>
          <a:blip r:embed="rId3"/>
          <a:srcRect t="15018" b="1973"/>
          <a:stretch/>
        </p:blipFill>
        <p:spPr>
          <a:xfrm>
            <a:off x="2184400" y="1048777"/>
            <a:ext cx="7823200" cy="498686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pPr>
            <a:r>
              <a:rPr lang="en-US" sz="2000" dirty="0">
                <a:latin typeface="Cambria" panose="02040503050406030204" pitchFamily="18" charset="0"/>
                <a:ea typeface="Cambria" panose="02040503050406030204" pitchFamily="18" charset="0"/>
              </a:rPr>
              <a:t>K. T. Wadsworth, M. T. Guido, J. F. Griffin and A. </a:t>
            </a:r>
            <a:r>
              <a:rPr lang="en-US" sz="2000" dirty="0" err="1">
                <a:latin typeface="Cambria" panose="02040503050406030204" pitchFamily="18" charset="0"/>
                <a:ea typeface="Cambria" panose="02040503050406030204" pitchFamily="18" charset="0"/>
              </a:rPr>
              <a:t>Mandil</a:t>
            </a:r>
            <a:r>
              <a:rPr lang="en-US" sz="2000" dirty="0">
                <a:latin typeface="Cambria" panose="02040503050406030204" pitchFamily="18" charset="0"/>
                <a:ea typeface="Cambria" panose="02040503050406030204" pitchFamily="18" charset="0"/>
              </a:rPr>
              <a:t>, "An innovation in paper receipts: the electronic receipt management system," 2010 IEEE Systems and Information Engineering Design Symposium, Charlottesville, VA, USA, 2010, pp. 88-93, </a:t>
            </a:r>
            <a:r>
              <a:rPr lang="en-US" sz="2000" dirty="0" err="1">
                <a:latin typeface="Cambria" panose="02040503050406030204" pitchFamily="18" charset="0"/>
                <a:ea typeface="Cambria" panose="02040503050406030204" pitchFamily="18" charset="0"/>
              </a:rPr>
              <a:t>doi</a:t>
            </a:r>
            <a:r>
              <a:rPr lang="en-US" sz="2000" dirty="0">
                <a:latin typeface="Cambria" panose="02040503050406030204" pitchFamily="18" charset="0"/>
                <a:ea typeface="Cambria" panose="02040503050406030204" pitchFamily="18" charset="0"/>
              </a:rPr>
              <a:t>: 10.1109/SIEDS.2010.5469674. keywords: {Technological </a:t>
            </a:r>
            <a:r>
              <a:rPr lang="en-US" sz="2000" dirty="0" err="1">
                <a:latin typeface="Cambria" panose="02040503050406030204" pitchFamily="18" charset="0"/>
                <a:ea typeface="Cambria" panose="02040503050406030204" pitchFamily="18" charset="0"/>
              </a:rPr>
              <a:t>innovation;Innovation</a:t>
            </a: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management;Usability;Project</a:t>
            </a: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management;Monitoring;User</a:t>
            </a: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interfaces;Transaction</a:t>
            </a: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databases;XML;Access</a:t>
            </a: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protocols;Financial</a:t>
            </a:r>
            <a:r>
              <a:rPr lang="en-US" sz="2000" dirty="0">
                <a:latin typeface="Cambria" panose="02040503050406030204" pitchFamily="18" charset="0"/>
                <a:ea typeface="Cambria" panose="02040503050406030204" pitchFamily="18" charset="0"/>
              </a:rPr>
              <a:t> management}</a:t>
            </a:r>
          </a:p>
          <a:p>
            <a:pPr marL="152400" indent="0">
              <a:spcBef>
                <a:spcPts val="0"/>
              </a:spcBef>
              <a:buNone/>
            </a:pPr>
            <a:endParaRPr lang="en-US" sz="2000" dirty="0">
              <a:latin typeface="Cambria" panose="02040503050406030204" pitchFamily="18" charset="0"/>
              <a:ea typeface="Cambria" panose="02040503050406030204" pitchFamily="18" charset="0"/>
            </a:endParaRPr>
          </a:p>
          <a:p>
            <a:pPr marL="495300" indent="-342900">
              <a:spcBef>
                <a:spcPts val="0"/>
              </a:spcBef>
            </a:pPr>
            <a:r>
              <a:rPr lang="en-US" sz="2000" dirty="0">
                <a:latin typeface="Cambria" panose="02040503050406030204" pitchFamily="18" charset="0"/>
                <a:ea typeface="Cambria" panose="02040503050406030204" pitchFamily="18" charset="0"/>
              </a:rPr>
              <a:t>Balamurugan, A &amp; Vamsi, M &amp; Bhattacharya, </a:t>
            </a:r>
            <a:r>
              <a:rPr lang="en-US" sz="2000" dirty="0" err="1">
                <a:latin typeface="Cambria" panose="02040503050406030204" pitchFamily="18" charset="0"/>
                <a:ea typeface="Cambria" panose="02040503050406030204" pitchFamily="18" charset="0"/>
              </a:rPr>
              <a:t>Rajib</a:t>
            </a:r>
            <a:r>
              <a:rPr lang="en-US" sz="2000" dirty="0">
                <a:latin typeface="Cambria" panose="02040503050406030204" pitchFamily="18" charset="0"/>
                <a:ea typeface="Cambria" panose="02040503050406030204" pitchFamily="18" charset="0"/>
              </a:rPr>
              <a:t> &amp; Mohammed, Shariq &amp; Kaushik, Priyanka &amp; </a:t>
            </a:r>
            <a:r>
              <a:rPr lang="en-US" sz="2000" dirty="0" err="1">
                <a:latin typeface="Cambria" panose="02040503050406030204" pitchFamily="18" charset="0"/>
                <a:ea typeface="Cambria" panose="02040503050406030204" pitchFamily="18" charset="0"/>
              </a:rPr>
              <a:t>Haralayya</a:t>
            </a:r>
            <a:r>
              <a:rPr lang="en-US" sz="2000" dirty="0">
                <a:latin typeface="Cambria" panose="02040503050406030204" pitchFamily="18" charset="0"/>
                <a:ea typeface="Cambria" panose="02040503050406030204" pitchFamily="18" charset="0"/>
              </a:rPr>
              <a:t>, Dr. (2023). </a:t>
            </a:r>
            <a:r>
              <a:rPr lang="en-US" sz="2000" i="1" dirty="0">
                <a:latin typeface="Cambria" panose="02040503050406030204" pitchFamily="18" charset="0"/>
                <a:ea typeface="Cambria" panose="02040503050406030204" pitchFamily="18" charset="0"/>
              </a:rPr>
              <a:t>ROBOTIC PROCESS AUTOMATION (RPA) IN ACCOUNTING AND AUDITING OF BUSINESS AND FINANCIAL INFORMATION.</a:t>
            </a:r>
            <a:r>
              <a:rPr lang="en-US" sz="2000" dirty="0">
                <a:latin typeface="Cambria" panose="02040503050406030204" pitchFamily="18" charset="0"/>
                <a:ea typeface="Cambria" panose="02040503050406030204" pitchFamily="18" charset="0"/>
              </a:rPr>
              <a:t> Manager. 58. 127-142. </a:t>
            </a:r>
          </a:p>
          <a:p>
            <a:pPr marL="152400" indent="0">
              <a:spcBef>
                <a:spcPts val="0"/>
              </a:spcBef>
              <a:buNone/>
            </a:pPr>
            <a:endParaRPr lang="en-US" sz="2000" dirty="0">
              <a:latin typeface="Cambria" panose="02040503050406030204" pitchFamily="18" charset="0"/>
              <a:ea typeface="Cambria" panose="02040503050406030204" pitchFamily="18" charset="0"/>
            </a:endParaRPr>
          </a:p>
          <a:p>
            <a:pPr marL="495300" indent="-342900">
              <a:spcBef>
                <a:spcPts val="0"/>
              </a:spcBef>
            </a:pPr>
            <a:r>
              <a:rPr lang="en-US" sz="2000" dirty="0">
                <a:latin typeface="Cambria" panose="02040503050406030204" pitchFamily="18" charset="0"/>
                <a:ea typeface="Cambria" panose="02040503050406030204" pitchFamily="18" charset="0"/>
              </a:rPr>
              <a:t>Costa, Diogo &amp; S. </a:t>
            </a:r>
            <a:r>
              <a:rPr lang="en-US" sz="2000" dirty="0" err="1">
                <a:latin typeface="Cambria" panose="02040503050406030204" pitchFamily="18" charset="0"/>
                <a:ea typeface="Cambria" panose="02040503050406030204" pitchFamily="18" charset="0"/>
              </a:rPr>
              <a:t>Mamede</a:t>
            </a:r>
            <a:r>
              <a:rPr lang="en-US" sz="2000" dirty="0">
                <a:latin typeface="Cambria" panose="02040503050406030204" pitchFamily="18" charset="0"/>
                <a:ea typeface="Cambria" panose="02040503050406030204" pitchFamily="18" charset="0"/>
              </a:rPr>
              <a:t>, Henrique &amp; Mira da Silva, Miguel. (2022). Robotic Process Automation (RPA) Adoption: A Systematic Literature Review. Engineering Management in Production and Services. 14. 1-12. 10.2478/emj-2022-0012. </a:t>
            </a:r>
          </a:p>
          <a:p>
            <a:pPr marL="152400" indent="0">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1135</TotalTime>
  <Words>693</Words>
  <Application>Microsoft Office PowerPoint</Application>
  <PresentationFormat>Widescreen</PresentationFormat>
  <Paragraphs>68</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Cambria</vt:lpstr>
      <vt:lpstr>Times New Roman</vt:lpstr>
      <vt:lpstr>Verdana</vt:lpstr>
      <vt:lpstr>Wingdings</vt:lpstr>
      <vt:lpstr>Bioinformatics</vt:lpstr>
      <vt:lpstr>PROJECT TITLE :  Finance Receipting using Robotic Process Automation</vt:lpstr>
      <vt:lpstr>Content</vt:lpstr>
      <vt:lpstr>Problem Statement Number: </vt:lpstr>
      <vt:lpstr>Analysis of Problem Statement</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Keren Elisheba S</cp:lastModifiedBy>
  <cp:revision>42</cp:revision>
  <dcterms:modified xsi:type="dcterms:W3CDTF">2024-10-20T10:25:00Z</dcterms:modified>
</cp:coreProperties>
</file>